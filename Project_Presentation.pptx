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8288000" cy="10287000"/>
  <p:notesSz cx="6858000" cy="9144000"/>
  <p:embeddedFontLst>
    <p:embeddedFont>
      <p:font typeface="Saira Stencil One" charset="1" panose="00000500000000000000"/>
      <p:regular r:id="rId32"/>
    </p:embeddedFont>
    <p:embeddedFont>
      <p:font typeface="Noto Sans Bold" charset="1" panose="020B0802040504020204"/>
      <p:regular r:id="rId33"/>
    </p:embeddedFont>
    <p:embeddedFont>
      <p:font typeface="Saira ExtraCondensed Bold" charset="1" panose="00000808000000000000"/>
      <p:regular r:id="rId34"/>
    </p:embeddedFont>
    <p:embeddedFont>
      <p:font typeface="Noto Sans" charset="1" panose="020B0502040504020204"/>
      <p:regular r:id="rId35"/>
    </p:embeddedFont>
    <p:embeddedFont>
      <p:font typeface="Saira ExtraCondensed" charset="1" panose="00000508000000000000"/>
      <p:regular r:id="rId36"/>
    </p:embeddedFont>
    <p:embeddedFont>
      <p:font typeface="Amatic SC Bold" charset="1" panose="0000080000000000000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6037067"/>
            <a:chOff x="0" y="0"/>
            <a:chExt cx="4816593" cy="15900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590009"/>
            </a:xfrm>
            <a:custGeom>
              <a:avLst/>
              <a:gdLst/>
              <a:ahLst/>
              <a:cxnLst/>
              <a:rect r="r" b="b" t="t" l="l"/>
              <a:pathLst>
                <a:path h="159000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590009"/>
                  </a:lnTo>
                  <a:lnTo>
                    <a:pt x="0" y="1590009"/>
                  </a:lnTo>
                  <a:close/>
                </a:path>
              </a:pathLst>
            </a:custGeom>
            <a:solidFill>
              <a:srgbClr val="FAD02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16376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144000" y="537401"/>
            <a:ext cx="8898091" cy="5285412"/>
          </a:xfrm>
          <a:custGeom>
            <a:avLst/>
            <a:gdLst/>
            <a:ahLst/>
            <a:cxnLst/>
            <a:rect r="r" b="b" t="t" l="l"/>
            <a:pathLst>
              <a:path h="5285412" w="8898091">
                <a:moveTo>
                  <a:pt x="0" y="0"/>
                </a:moveTo>
                <a:lnTo>
                  <a:pt x="8898091" y="0"/>
                </a:lnTo>
                <a:lnTo>
                  <a:pt x="8898091" y="5285413"/>
                </a:lnTo>
                <a:lnTo>
                  <a:pt x="0" y="52854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107" r="0" b="-3107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91422" y="1809750"/>
            <a:ext cx="8142575" cy="333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3"/>
              </a:lnSpc>
            </a:pPr>
            <a:r>
              <a:rPr lang="en-US" sz="4403">
                <a:solidFill>
                  <a:srgbClr val="000000"/>
                </a:solidFill>
                <a:latin typeface="Saira Stencil One"/>
                <a:ea typeface="Saira Stencil One"/>
                <a:cs typeface="Saira Stencil One"/>
                <a:sym typeface="Saira Stencil One"/>
              </a:rPr>
              <a:t>BEVERAGE</a:t>
            </a:r>
            <a:r>
              <a:rPr lang="en-US" sz="4403">
                <a:solidFill>
                  <a:srgbClr val="000000"/>
                </a:solidFill>
                <a:latin typeface="Saira Stencil One"/>
                <a:ea typeface="Saira Stencil One"/>
                <a:cs typeface="Saira Stencil One"/>
                <a:sym typeface="Saira Stencil One"/>
              </a:rPr>
              <a:t> MARKET DYNAMICS &amp; FORECASTING: B2B FOCUS AND INVENTORY OPTIMIZATION</a:t>
            </a:r>
          </a:p>
          <a:p>
            <a:pPr algn="ctr">
              <a:lnSpc>
                <a:spcPts val="5283"/>
              </a:lnSpc>
            </a:pPr>
          </a:p>
        </p:txBody>
      </p:sp>
      <p:sp>
        <p:nvSpPr>
          <p:cNvPr name="AutoShape 7" id="7"/>
          <p:cNvSpPr/>
          <p:nvPr/>
        </p:nvSpPr>
        <p:spPr>
          <a:xfrm>
            <a:off x="1028700" y="6037067"/>
            <a:ext cx="7980465" cy="0"/>
          </a:xfrm>
          <a:prstGeom prst="line">
            <a:avLst/>
          </a:prstGeom>
          <a:ln cap="flat" w="76200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700947" y="6831365"/>
            <a:ext cx="2047750" cy="580383"/>
            <a:chOff x="0" y="0"/>
            <a:chExt cx="1433891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33891" cy="406400"/>
            </a:xfrm>
            <a:custGeom>
              <a:avLst/>
              <a:gdLst/>
              <a:ahLst/>
              <a:cxnLst/>
              <a:rect r="r" b="b" t="t" l="l"/>
              <a:pathLst>
                <a:path h="406400" w="1433891">
                  <a:moveTo>
                    <a:pt x="1230691" y="0"/>
                  </a:moveTo>
                  <a:cubicBezTo>
                    <a:pt x="1342915" y="0"/>
                    <a:pt x="1433891" y="90976"/>
                    <a:pt x="1433891" y="203200"/>
                  </a:cubicBezTo>
                  <a:cubicBezTo>
                    <a:pt x="1433891" y="315424"/>
                    <a:pt x="1342915" y="406400"/>
                    <a:pt x="1230691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433891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1"/>
                </a:lnSpc>
              </a:pPr>
              <a:r>
                <a:rPr lang="en-US" b="true" sz="2558">
                  <a:solidFill>
                    <a:srgbClr val="0A2E09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Data Source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00947" y="8505879"/>
            <a:ext cx="2047750" cy="1024123"/>
            <a:chOff x="0" y="0"/>
            <a:chExt cx="1433891" cy="71711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33891" cy="717119"/>
            </a:xfrm>
            <a:custGeom>
              <a:avLst/>
              <a:gdLst/>
              <a:ahLst/>
              <a:cxnLst/>
              <a:rect r="r" b="b" t="t" l="l"/>
              <a:pathLst>
                <a:path h="717119" w="1433891">
                  <a:moveTo>
                    <a:pt x="1230691" y="0"/>
                  </a:moveTo>
                  <a:cubicBezTo>
                    <a:pt x="1342915" y="0"/>
                    <a:pt x="1433891" y="160533"/>
                    <a:pt x="1433891" y="358560"/>
                  </a:cubicBezTo>
                  <a:cubicBezTo>
                    <a:pt x="1433891" y="556587"/>
                    <a:pt x="1342915" y="717119"/>
                    <a:pt x="1230691" y="717119"/>
                  </a:cubicBezTo>
                  <a:lnTo>
                    <a:pt x="203200" y="717119"/>
                  </a:lnTo>
                  <a:cubicBezTo>
                    <a:pt x="90976" y="717119"/>
                    <a:pt x="0" y="556587"/>
                    <a:pt x="0" y="358560"/>
                  </a:cubicBezTo>
                  <a:cubicBezTo>
                    <a:pt x="0" y="160533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433891" cy="7647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1"/>
                </a:lnSpc>
              </a:pPr>
              <a:r>
                <a:rPr lang="en-US" b="true" sz="2558">
                  <a:solidFill>
                    <a:srgbClr val="00071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Technology used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313302" y="6652563"/>
            <a:ext cx="13979802" cy="871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71"/>
              </a:lnSpc>
            </a:pPr>
            <a:r>
              <a:rPr lang="en-US" b="true" sz="2380">
                <a:solidFill>
                  <a:srgbClr val="1E382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The dataset used in this analysis is sourced from the Kaggle. This dataset was created to simulate realistic sales patterns in the beverage industry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31255" y="8101272"/>
            <a:ext cx="14137570" cy="1766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1"/>
              </a:lnSpc>
            </a:pPr>
            <a:r>
              <a:rPr lang="en-US" sz="2380" b="true">
                <a:solidFill>
                  <a:srgbClr val="1E382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Python:</a:t>
            </a:r>
          </a:p>
          <a:p>
            <a:pPr algn="l" marL="514034" indent="-257017" lvl="1">
              <a:lnSpc>
                <a:spcPts val="3571"/>
              </a:lnSpc>
              <a:buFont typeface="Arial"/>
              <a:buChar char="•"/>
            </a:pPr>
            <a:r>
              <a:rPr lang="en-US" b="true" sz="2380">
                <a:solidFill>
                  <a:srgbClr val="1E382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Reading and cleaning the dataset</a:t>
            </a:r>
          </a:p>
          <a:p>
            <a:pPr algn="l" marL="514034" indent="-257017" lvl="1">
              <a:lnSpc>
                <a:spcPts val="3571"/>
              </a:lnSpc>
              <a:buFont typeface="Arial"/>
              <a:buChar char="•"/>
            </a:pPr>
            <a:r>
              <a:rPr lang="en-US" b="true" sz="2380">
                <a:solidFill>
                  <a:srgbClr val="1E382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Performing EDA</a:t>
            </a:r>
          </a:p>
          <a:p>
            <a:pPr algn="l" marL="514034" indent="-257017" lvl="1">
              <a:lnSpc>
                <a:spcPts val="3571"/>
              </a:lnSpc>
              <a:buFont typeface="Arial"/>
              <a:buChar char="•"/>
            </a:pPr>
            <a:r>
              <a:rPr lang="en-US" b="true" sz="2380">
                <a:solidFill>
                  <a:srgbClr val="1E382B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Building SARIMAX model to forecast total sales and quantities of each products (monthly)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6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398283" y="2914133"/>
            <a:ext cx="7139844" cy="5739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95379" indent="-647689" lvl="1">
              <a:lnSpc>
                <a:spcPts val="9179"/>
              </a:lnSpc>
              <a:buFont typeface="Arial"/>
              <a:buChar char="•"/>
            </a:pPr>
            <a:r>
              <a:rPr lang="en-US" b="true" sz="5999">
                <a:solidFill>
                  <a:srgbClr val="0A2E09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Purpose and Outcome</a:t>
            </a:r>
          </a:p>
          <a:p>
            <a:pPr algn="l" marL="1295379" indent="-647689" lvl="1">
              <a:lnSpc>
                <a:spcPts val="9179"/>
              </a:lnSpc>
              <a:buFont typeface="Arial"/>
              <a:buChar char="•"/>
            </a:pPr>
            <a:r>
              <a:rPr lang="en-US" b="true" sz="5999">
                <a:solidFill>
                  <a:srgbClr val="0A2E09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EDA</a:t>
            </a:r>
          </a:p>
          <a:p>
            <a:pPr algn="l" marL="1295379" indent="-647689" lvl="1">
              <a:lnSpc>
                <a:spcPts val="9179"/>
              </a:lnSpc>
              <a:buFont typeface="Arial"/>
              <a:buChar char="•"/>
            </a:pPr>
            <a:r>
              <a:rPr lang="en-US" b="true" sz="5999">
                <a:solidFill>
                  <a:srgbClr val="0A2E09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Forecasting</a:t>
            </a:r>
          </a:p>
          <a:p>
            <a:pPr algn="l" marL="1295379" indent="-647689" lvl="1">
              <a:lnSpc>
                <a:spcPts val="9179"/>
              </a:lnSpc>
              <a:buFont typeface="Arial"/>
              <a:buChar char="•"/>
            </a:pPr>
            <a:r>
              <a:rPr lang="en-US" b="true" sz="5999">
                <a:solidFill>
                  <a:srgbClr val="0A2E09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Actionable plans</a:t>
            </a:r>
          </a:p>
          <a:p>
            <a:pPr algn="l">
              <a:lnSpc>
                <a:spcPts val="917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5879641" y="860027"/>
            <a:ext cx="6528718" cy="1110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68"/>
              </a:lnSpc>
            </a:pPr>
            <a:r>
              <a:rPr lang="en-US" b="true" sz="8468">
                <a:solidFill>
                  <a:srgbClr val="D8D355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Table of contents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871549"/>
            <a:ext cx="8142575" cy="3333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3"/>
              </a:lnSpc>
            </a:pPr>
            <a:r>
              <a:rPr lang="en-US" sz="4403">
                <a:solidFill>
                  <a:srgbClr val="000000"/>
                </a:solidFill>
                <a:latin typeface="Saira Stencil One"/>
                <a:ea typeface="Saira Stencil One"/>
                <a:cs typeface="Saira Stencil One"/>
                <a:sym typeface="Saira Stencil One"/>
              </a:rPr>
              <a:t>BEVERAGE</a:t>
            </a:r>
            <a:r>
              <a:rPr lang="en-US" sz="4403">
                <a:solidFill>
                  <a:srgbClr val="000000"/>
                </a:solidFill>
                <a:latin typeface="Saira Stencil One"/>
                <a:ea typeface="Saira Stencil One"/>
                <a:cs typeface="Saira Stencil One"/>
                <a:sym typeface="Saira Stencil One"/>
              </a:rPr>
              <a:t> MARKET DYNAMICS &amp; FORECASTING: B2B FOCUS AND INVENTORY OPTIMIZATION</a:t>
            </a:r>
          </a:p>
          <a:p>
            <a:pPr algn="ctr">
              <a:lnSpc>
                <a:spcPts val="5283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6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7529736"/>
            <a:chOff x="0" y="0"/>
            <a:chExt cx="4816593" cy="19831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983140"/>
            </a:xfrm>
            <a:custGeom>
              <a:avLst/>
              <a:gdLst/>
              <a:ahLst/>
              <a:cxnLst/>
              <a:rect r="r" b="b" t="t" l="l"/>
              <a:pathLst>
                <a:path h="198314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983140"/>
                  </a:lnTo>
                  <a:lnTo>
                    <a:pt x="0" y="1983140"/>
                  </a:lnTo>
                  <a:close/>
                </a:path>
              </a:pathLst>
            </a:custGeom>
            <a:solidFill>
              <a:srgbClr val="FAD02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2030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1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1195388" y="1028700"/>
            <a:ext cx="0" cy="5170481"/>
          </a:xfrm>
          <a:prstGeom prst="line">
            <a:avLst/>
          </a:prstGeom>
          <a:ln cap="flat" w="333375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2106163" y="880442"/>
            <a:ext cx="8246468" cy="3398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47"/>
              </a:lnSpc>
            </a:pPr>
            <a:r>
              <a:rPr lang="en-US" sz="8985" b="true">
                <a:solidFill>
                  <a:srgbClr val="0A2E09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Purpose and Outcome</a:t>
            </a:r>
          </a:p>
          <a:p>
            <a:pPr algn="just">
              <a:lnSpc>
                <a:spcPts val="13747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6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78659" y="757845"/>
            <a:ext cx="9409246" cy="1110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68"/>
              </a:lnSpc>
            </a:pPr>
            <a:r>
              <a:rPr lang="en-US" b="true" sz="8468">
                <a:solidFill>
                  <a:srgbClr val="D8D355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Purpose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54717" y="1789444"/>
            <a:ext cx="15778566" cy="822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849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Understanding the distinct characteristics and purchasing be</a:t>
            </a: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haviors of different customer types </a:t>
            </a:r>
            <a:r>
              <a:rPr lang="en-US" b="true" sz="3399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B2B and B2C</a:t>
            </a: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.</a:t>
            </a:r>
          </a:p>
          <a:p>
            <a:pPr algn="l" marL="734059" indent="-367030" lvl="1">
              <a:lnSpc>
                <a:spcPts val="849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Evaluating the performance of </a:t>
            </a:r>
            <a:r>
              <a:rPr lang="en-US" b="true" sz="3399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individual products and categories</a:t>
            </a: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to identify high-potential offerings and areas for improvement.</a:t>
            </a:r>
          </a:p>
          <a:p>
            <a:pPr algn="l" marL="734059" indent="-367030" lvl="1">
              <a:lnSpc>
                <a:spcPts val="849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Sales Forecasting and Planning: </a:t>
            </a: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Identifying temporal sales patterns and trends to improve inventory management, promotional planning, and overall sales forecasting accuracy.</a:t>
            </a: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6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78659" y="757845"/>
            <a:ext cx="9409246" cy="1110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68"/>
              </a:lnSpc>
            </a:pPr>
            <a:r>
              <a:rPr lang="en-US" b="true" sz="8468">
                <a:solidFill>
                  <a:srgbClr val="D8D355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Outcomes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10705" y="2541173"/>
            <a:ext cx="17066591" cy="6076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99"/>
              </a:lnSpc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✅ Identified the significant revenue contribution of </a:t>
            </a:r>
            <a:r>
              <a:rPr lang="en-US" sz="33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B2B customers.</a:t>
            </a:r>
          </a:p>
          <a:p>
            <a:pPr algn="l">
              <a:lnSpc>
                <a:spcPts val="8499"/>
              </a:lnSpc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✅ Demonstrated the profit</a:t>
            </a: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ability of </a:t>
            </a:r>
            <a:r>
              <a:rPr lang="en-US" sz="33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premium alcoholic beverages</a:t>
            </a: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, supporting the expansion of this category and targeted marketing to capitalize on high-margin products.</a:t>
            </a:r>
          </a:p>
          <a:p>
            <a:pPr algn="l">
              <a:lnSpc>
                <a:spcPts val="8499"/>
              </a:lnSpc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✅ Provide </a:t>
            </a:r>
            <a:r>
              <a:rPr lang="en-US" sz="33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Sales Forecasting and Seasonal Planning</a:t>
            </a: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6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7529736"/>
            <a:chOff x="0" y="0"/>
            <a:chExt cx="4816593" cy="19831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983140"/>
            </a:xfrm>
            <a:custGeom>
              <a:avLst/>
              <a:gdLst/>
              <a:ahLst/>
              <a:cxnLst/>
              <a:rect r="r" b="b" t="t" l="l"/>
              <a:pathLst>
                <a:path h="198314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983140"/>
                  </a:lnTo>
                  <a:lnTo>
                    <a:pt x="0" y="1983140"/>
                  </a:lnTo>
                  <a:close/>
                </a:path>
              </a:pathLst>
            </a:custGeom>
            <a:solidFill>
              <a:srgbClr val="FAD02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2030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1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1195388" y="1028700"/>
            <a:ext cx="0" cy="5170481"/>
          </a:xfrm>
          <a:prstGeom prst="line">
            <a:avLst/>
          </a:prstGeom>
          <a:ln cap="flat" w="333375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2106163" y="880442"/>
            <a:ext cx="8246468" cy="5143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47"/>
              </a:lnSpc>
            </a:pPr>
            <a:r>
              <a:rPr lang="en-US" sz="8985" b="true">
                <a:solidFill>
                  <a:srgbClr val="0A2E09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Exploratory Data Analysis</a:t>
            </a:r>
          </a:p>
          <a:p>
            <a:pPr algn="just">
              <a:lnSpc>
                <a:spcPts val="13747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78659" y="2713007"/>
            <a:ext cx="8126932" cy="3253659"/>
          </a:xfrm>
          <a:custGeom>
            <a:avLst/>
            <a:gdLst/>
            <a:ahLst/>
            <a:cxnLst/>
            <a:rect r="r" b="b" t="t" l="l"/>
            <a:pathLst>
              <a:path h="3253659" w="8126932">
                <a:moveTo>
                  <a:pt x="0" y="0"/>
                </a:moveTo>
                <a:lnTo>
                  <a:pt x="8126931" y="0"/>
                </a:lnTo>
                <a:lnTo>
                  <a:pt x="8126931" y="3253659"/>
                </a:lnTo>
                <a:lnTo>
                  <a:pt x="0" y="32536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04" t="0" r="-210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8659" y="757845"/>
            <a:ext cx="9409246" cy="1110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68"/>
              </a:lnSpc>
            </a:pPr>
            <a:r>
              <a:rPr lang="en-US" b="true" sz="8468">
                <a:solidFill>
                  <a:srgbClr val="D8D355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Customer type analysis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552354" y="2713007"/>
            <a:ext cx="8585855" cy="3253659"/>
          </a:xfrm>
          <a:custGeom>
            <a:avLst/>
            <a:gdLst/>
            <a:ahLst/>
            <a:cxnLst/>
            <a:rect r="r" b="b" t="t" l="l"/>
            <a:pathLst>
              <a:path h="3253659" w="8585855">
                <a:moveTo>
                  <a:pt x="0" y="0"/>
                </a:moveTo>
                <a:lnTo>
                  <a:pt x="8585855" y="0"/>
                </a:lnTo>
                <a:lnTo>
                  <a:pt x="8585855" y="3253659"/>
                </a:lnTo>
                <a:lnTo>
                  <a:pt x="0" y="32536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1493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63071" y="7477760"/>
            <a:ext cx="15778566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B2B customers dominate both sales </a:t>
            </a:r>
            <a:r>
              <a:rPr lang="en-US" b="true" sz="3399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(76.6%)</a:t>
            </a: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and quantities </a:t>
            </a:r>
            <a:r>
              <a:rPr lang="en-US" b="true" sz="3399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(77.7%)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B2B customers have significantly higher average sales </a:t>
            </a:r>
            <a:r>
              <a:rPr lang="en-US" b="true" sz="3399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($280)</a:t>
            </a: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and quantities </a:t>
            </a:r>
            <a:r>
              <a:rPr lang="en-US" b="true" sz="3399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(50 units)</a:t>
            </a: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compared to B2C customers </a:t>
            </a:r>
            <a:r>
              <a:rPr lang="en-US" b="true" sz="3399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($45 and 8 units)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05242" y="5898347"/>
            <a:ext cx="14077517" cy="4065921"/>
          </a:xfrm>
          <a:custGeom>
            <a:avLst/>
            <a:gdLst/>
            <a:ahLst/>
            <a:cxnLst/>
            <a:rect r="r" b="b" t="t" l="l"/>
            <a:pathLst>
              <a:path h="4065921" w="14077517">
                <a:moveTo>
                  <a:pt x="0" y="0"/>
                </a:moveTo>
                <a:lnTo>
                  <a:pt x="14077516" y="0"/>
                </a:lnTo>
                <a:lnTo>
                  <a:pt x="14077516" y="4065922"/>
                </a:lnTo>
                <a:lnTo>
                  <a:pt x="0" y="40659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968503" y="1987797"/>
            <a:ext cx="10350994" cy="3589038"/>
          </a:xfrm>
          <a:custGeom>
            <a:avLst/>
            <a:gdLst/>
            <a:ahLst/>
            <a:cxnLst/>
            <a:rect r="r" b="b" t="t" l="l"/>
            <a:pathLst>
              <a:path h="3589038" w="10350994">
                <a:moveTo>
                  <a:pt x="0" y="0"/>
                </a:moveTo>
                <a:lnTo>
                  <a:pt x="10350994" y="0"/>
                </a:lnTo>
                <a:lnTo>
                  <a:pt x="10350994" y="3589038"/>
                </a:lnTo>
                <a:lnTo>
                  <a:pt x="0" y="35890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78659" y="757845"/>
            <a:ext cx="12914554" cy="1110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68"/>
              </a:lnSpc>
            </a:pPr>
            <a:r>
              <a:rPr lang="en-US" b="true" sz="8468">
                <a:solidFill>
                  <a:srgbClr val="D8D355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Product performance analysis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50088" y="2280230"/>
            <a:ext cx="10787824" cy="5203539"/>
          </a:xfrm>
          <a:custGeom>
            <a:avLst/>
            <a:gdLst/>
            <a:ahLst/>
            <a:cxnLst/>
            <a:rect r="r" b="b" t="t" l="l"/>
            <a:pathLst>
              <a:path h="5203539" w="10787824">
                <a:moveTo>
                  <a:pt x="0" y="0"/>
                </a:moveTo>
                <a:lnTo>
                  <a:pt x="10787824" y="0"/>
                </a:lnTo>
                <a:lnTo>
                  <a:pt x="10787824" y="5203539"/>
                </a:lnTo>
                <a:lnTo>
                  <a:pt x="0" y="52035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8659" y="757845"/>
            <a:ext cx="12914554" cy="1110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68"/>
              </a:lnSpc>
            </a:pPr>
            <a:r>
              <a:rPr lang="en-US" b="true" sz="8468">
                <a:solidFill>
                  <a:srgbClr val="D8D355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Product performance analysis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80734" y="7826669"/>
            <a:ext cx="15778566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Premium alcoholic beverages drive revenue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S</a:t>
            </a: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ales-quantity m</a:t>
            </a: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is</a:t>
            </a: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match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Both B2B and B2C customers appear to order equally across categories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42759" y="2067086"/>
            <a:ext cx="10602482" cy="6152828"/>
          </a:xfrm>
          <a:custGeom>
            <a:avLst/>
            <a:gdLst/>
            <a:ahLst/>
            <a:cxnLst/>
            <a:rect r="r" b="b" t="t" l="l"/>
            <a:pathLst>
              <a:path h="6152828" w="10602482">
                <a:moveTo>
                  <a:pt x="0" y="0"/>
                </a:moveTo>
                <a:lnTo>
                  <a:pt x="10602482" y="0"/>
                </a:lnTo>
                <a:lnTo>
                  <a:pt x="10602482" y="6152828"/>
                </a:lnTo>
                <a:lnTo>
                  <a:pt x="0" y="61528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8659" y="757845"/>
            <a:ext cx="12914554" cy="1110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68"/>
              </a:lnSpc>
            </a:pPr>
            <a:r>
              <a:rPr lang="en-US" b="true" sz="8468">
                <a:solidFill>
                  <a:srgbClr val="D8D355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Regional sales analysis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80734" y="8634730"/>
            <a:ext cx="15778566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Similar </a:t>
            </a: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quantity-to-sales ratios across regions indicates consistent pricing across regions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207915"/>
            <a:ext cx="7985322" cy="4634039"/>
          </a:xfrm>
          <a:custGeom>
            <a:avLst/>
            <a:gdLst/>
            <a:ahLst/>
            <a:cxnLst/>
            <a:rect r="r" b="b" t="t" l="l"/>
            <a:pathLst>
              <a:path h="4634039" w="7985322">
                <a:moveTo>
                  <a:pt x="0" y="0"/>
                </a:moveTo>
                <a:lnTo>
                  <a:pt x="7985322" y="0"/>
                </a:lnTo>
                <a:lnTo>
                  <a:pt x="7985322" y="4634039"/>
                </a:lnTo>
                <a:lnTo>
                  <a:pt x="0" y="46340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8659" y="757845"/>
            <a:ext cx="12914554" cy="1110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68"/>
              </a:lnSpc>
            </a:pPr>
            <a:r>
              <a:rPr lang="en-US" b="true" sz="8468">
                <a:solidFill>
                  <a:srgbClr val="D8D355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Time series analysis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507997" y="2207915"/>
            <a:ext cx="7985322" cy="4634039"/>
          </a:xfrm>
          <a:custGeom>
            <a:avLst/>
            <a:gdLst/>
            <a:ahLst/>
            <a:cxnLst/>
            <a:rect r="r" b="b" t="t" l="l"/>
            <a:pathLst>
              <a:path h="4634039" w="7985322">
                <a:moveTo>
                  <a:pt x="0" y="0"/>
                </a:moveTo>
                <a:lnTo>
                  <a:pt x="7985322" y="0"/>
                </a:lnTo>
                <a:lnTo>
                  <a:pt x="7985322" y="4634039"/>
                </a:lnTo>
                <a:lnTo>
                  <a:pt x="0" y="46340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14754" y="8077835"/>
            <a:ext cx="15778566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Co</a:t>
            </a: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nsistent March sales dips across all three years (15-20% decrease)</a:t>
            </a: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77589" y="2182863"/>
            <a:ext cx="6966411" cy="4061392"/>
          </a:xfrm>
          <a:custGeom>
            <a:avLst/>
            <a:gdLst/>
            <a:ahLst/>
            <a:cxnLst/>
            <a:rect r="r" b="b" t="t" l="l"/>
            <a:pathLst>
              <a:path h="4061392" w="6966411">
                <a:moveTo>
                  <a:pt x="0" y="0"/>
                </a:moveTo>
                <a:lnTo>
                  <a:pt x="6966411" y="0"/>
                </a:lnTo>
                <a:lnTo>
                  <a:pt x="6966411" y="4061392"/>
                </a:lnTo>
                <a:lnTo>
                  <a:pt x="0" y="40613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66" t="0" r="-766" b="-10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2182863"/>
            <a:ext cx="6998544" cy="4061392"/>
          </a:xfrm>
          <a:custGeom>
            <a:avLst/>
            <a:gdLst/>
            <a:ahLst/>
            <a:cxnLst/>
            <a:rect r="r" b="b" t="t" l="l"/>
            <a:pathLst>
              <a:path h="4061392" w="6998544">
                <a:moveTo>
                  <a:pt x="0" y="0"/>
                </a:moveTo>
                <a:lnTo>
                  <a:pt x="6998544" y="0"/>
                </a:lnTo>
                <a:lnTo>
                  <a:pt x="6998544" y="4061392"/>
                </a:lnTo>
                <a:lnTo>
                  <a:pt x="0" y="40613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177589" y="6244255"/>
            <a:ext cx="6966411" cy="4042745"/>
          </a:xfrm>
          <a:custGeom>
            <a:avLst/>
            <a:gdLst/>
            <a:ahLst/>
            <a:cxnLst/>
            <a:rect r="r" b="b" t="t" l="l"/>
            <a:pathLst>
              <a:path h="4042745" w="6966411">
                <a:moveTo>
                  <a:pt x="0" y="0"/>
                </a:moveTo>
                <a:lnTo>
                  <a:pt x="6966411" y="0"/>
                </a:lnTo>
                <a:lnTo>
                  <a:pt x="6966411" y="4042745"/>
                </a:lnTo>
                <a:lnTo>
                  <a:pt x="0" y="40427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144000" y="6244255"/>
            <a:ext cx="6998544" cy="4042745"/>
          </a:xfrm>
          <a:custGeom>
            <a:avLst/>
            <a:gdLst/>
            <a:ahLst/>
            <a:cxnLst/>
            <a:rect r="r" b="b" t="t" l="l"/>
            <a:pathLst>
              <a:path h="4042745" w="6998544">
                <a:moveTo>
                  <a:pt x="0" y="0"/>
                </a:moveTo>
                <a:lnTo>
                  <a:pt x="6998544" y="0"/>
                </a:lnTo>
                <a:lnTo>
                  <a:pt x="6998544" y="4042745"/>
                </a:lnTo>
                <a:lnTo>
                  <a:pt x="0" y="40427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30" r="0" b="-23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78659" y="757845"/>
            <a:ext cx="12914554" cy="1110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68"/>
              </a:lnSpc>
            </a:pPr>
            <a:r>
              <a:rPr lang="en-US" b="true" sz="8468">
                <a:solidFill>
                  <a:srgbClr val="D8D355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Time series analysis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36635" y="2065460"/>
            <a:ext cx="11014730" cy="6855613"/>
          </a:xfrm>
          <a:custGeom>
            <a:avLst/>
            <a:gdLst/>
            <a:ahLst/>
            <a:cxnLst/>
            <a:rect r="r" b="b" t="t" l="l"/>
            <a:pathLst>
              <a:path h="6855613" w="11014730">
                <a:moveTo>
                  <a:pt x="0" y="0"/>
                </a:moveTo>
                <a:lnTo>
                  <a:pt x="11014730" y="0"/>
                </a:lnTo>
                <a:lnTo>
                  <a:pt x="11014730" y="6855613"/>
                </a:lnTo>
                <a:lnTo>
                  <a:pt x="0" y="68556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8659" y="757845"/>
            <a:ext cx="12914554" cy="1110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68"/>
              </a:lnSpc>
            </a:pPr>
            <a:r>
              <a:rPr lang="en-US" b="true" sz="8468">
                <a:solidFill>
                  <a:srgbClr val="D8D355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Time series analysis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86588" y="9054423"/>
            <a:ext cx="15778566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All beverage categories </a:t>
            </a: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show identical seasonal patterns in sales and quantities</a:t>
            </a:r>
          </a:p>
          <a:p>
            <a:pPr algn="l">
              <a:lnSpc>
                <a:spcPts val="4759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6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78659" y="757845"/>
            <a:ext cx="12914554" cy="1110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68"/>
              </a:lnSpc>
            </a:pPr>
            <a:r>
              <a:rPr lang="en-US" b="true" sz="8468">
                <a:solidFill>
                  <a:srgbClr val="D8D355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Key Findings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0102" y="2013333"/>
            <a:ext cx="16307796" cy="810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2614" indent="-311307" lvl="1">
              <a:lnSpc>
                <a:spcPts val="7209"/>
              </a:lnSpc>
              <a:buFont typeface="Arial"/>
              <a:buChar char="•"/>
            </a:pPr>
            <a:r>
              <a:rPr lang="en-US" b="true" sz="2883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Optimize B2B Focus:</a:t>
            </a:r>
            <a:r>
              <a:rPr lang="en-US" sz="2883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Restructure sales organization to capitalize on high-value B2B opportunities</a:t>
            </a:r>
          </a:p>
          <a:p>
            <a:pPr algn="l" marL="622614" indent="-311307" lvl="1">
              <a:lnSpc>
                <a:spcPts val="7209"/>
              </a:lnSpc>
              <a:buFont typeface="Arial"/>
              <a:buChar char="•"/>
            </a:pPr>
            <a:r>
              <a:rPr lang="en-US" b="true" sz="2883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Premium Product Leader</a:t>
            </a:r>
            <a:r>
              <a:rPr lang="en-US" b="true" sz="2883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ship:</a:t>
            </a:r>
            <a:r>
              <a:rPr lang="en-US" sz="2883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Position as premium beverage provider, especially in alcoholic category</a:t>
            </a:r>
          </a:p>
          <a:p>
            <a:pPr algn="l" marL="622614" indent="-311307" lvl="1">
              <a:lnSpc>
                <a:spcPts val="7209"/>
              </a:lnSpc>
              <a:buFont typeface="Arial"/>
              <a:buChar char="•"/>
            </a:pPr>
            <a:r>
              <a:rPr lang="en-US" b="true" sz="2883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Seasonal Planning:</a:t>
            </a:r>
            <a:r>
              <a:rPr lang="en-US" sz="2883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Implement coordinated inventory and marketing strategies for predictable seasonal patterns such as: </a:t>
            </a:r>
          </a:p>
          <a:p>
            <a:pPr algn="l" marL="1245229" indent="-415076" lvl="2">
              <a:lnSpc>
                <a:spcPts val="7209"/>
              </a:lnSpc>
              <a:buFont typeface="Arial"/>
              <a:buChar char="⚬"/>
            </a:pPr>
            <a:r>
              <a:rPr lang="en-US" sz="2883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Launch a promotional campaigns in March to counter seasonal dips</a:t>
            </a:r>
          </a:p>
          <a:p>
            <a:pPr algn="l" marL="1245229" indent="-415076" lvl="2">
              <a:lnSpc>
                <a:spcPts val="7209"/>
              </a:lnSpc>
              <a:buFont typeface="Arial"/>
              <a:buChar char="⚬"/>
            </a:pPr>
            <a:r>
              <a:rPr lang="en-US" sz="2883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Coordinate inventory reduction across all categories during predictable low periods</a:t>
            </a:r>
          </a:p>
          <a:p>
            <a:pPr algn="l">
              <a:lnSpc>
                <a:spcPts val="7209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6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7529736"/>
            <a:chOff x="0" y="0"/>
            <a:chExt cx="4816593" cy="19831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983140"/>
            </a:xfrm>
            <a:custGeom>
              <a:avLst/>
              <a:gdLst/>
              <a:ahLst/>
              <a:cxnLst/>
              <a:rect r="r" b="b" t="t" l="l"/>
              <a:pathLst>
                <a:path h="198314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983140"/>
                  </a:lnTo>
                  <a:lnTo>
                    <a:pt x="0" y="1983140"/>
                  </a:lnTo>
                  <a:close/>
                </a:path>
              </a:pathLst>
            </a:custGeom>
            <a:solidFill>
              <a:srgbClr val="FAD02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2030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1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1195388" y="1028700"/>
            <a:ext cx="0" cy="5170481"/>
          </a:xfrm>
          <a:prstGeom prst="line">
            <a:avLst/>
          </a:prstGeom>
          <a:ln cap="flat" w="333375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2106163" y="880442"/>
            <a:ext cx="8246468" cy="1653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47"/>
              </a:lnSpc>
            </a:pPr>
            <a:r>
              <a:rPr lang="en-US" sz="8985" b="true">
                <a:solidFill>
                  <a:srgbClr val="0A2E09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Forecasting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45394" y="2210222"/>
            <a:ext cx="12337014" cy="5084219"/>
          </a:xfrm>
          <a:custGeom>
            <a:avLst/>
            <a:gdLst/>
            <a:ahLst/>
            <a:cxnLst/>
            <a:rect r="r" b="b" t="t" l="l"/>
            <a:pathLst>
              <a:path h="5084219" w="12337014">
                <a:moveTo>
                  <a:pt x="0" y="0"/>
                </a:moveTo>
                <a:lnTo>
                  <a:pt x="12337014" y="0"/>
                </a:lnTo>
                <a:lnTo>
                  <a:pt x="12337014" y="5084219"/>
                </a:lnTo>
                <a:lnTo>
                  <a:pt x="0" y="5084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8659" y="757845"/>
            <a:ext cx="12914554" cy="1110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68"/>
              </a:lnSpc>
            </a:pPr>
            <a:r>
              <a:rPr lang="en-US" b="true" sz="8468">
                <a:solidFill>
                  <a:srgbClr val="D8D355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Total sales forecasting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63578" y="7437316"/>
            <a:ext cx="16085002" cy="3178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3489" indent="-276744" lvl="1">
              <a:lnSpc>
                <a:spcPts val="5127"/>
              </a:lnSpc>
              <a:buFont typeface="Arial"/>
              <a:buChar char="•"/>
            </a:pPr>
            <a:r>
              <a:rPr lang="en-US" b="true" sz="2563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Stable Annual Sales, Str</a:t>
            </a:r>
            <a:r>
              <a:rPr lang="en-US" b="true" sz="2563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ong Monthly Seasonality: </a:t>
            </a:r>
            <a:r>
              <a:rPr lang="en-US" sz="2563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Total sales remain consistent year-over-year, but exhibit a clear and repeating pattern within each year</a:t>
            </a:r>
          </a:p>
          <a:p>
            <a:pPr algn="l" marL="553489" indent="-276744" lvl="1">
              <a:lnSpc>
                <a:spcPts val="5127"/>
              </a:lnSpc>
              <a:buFont typeface="Arial"/>
              <a:buChar char="•"/>
            </a:pPr>
            <a:r>
              <a:rPr lang="en-US" b="true" sz="2563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Underlying Upward Trend:</a:t>
            </a:r>
            <a:r>
              <a:rPr lang="en-US" sz="2563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Monthly sales data shows a general increasing trend over the observed period</a:t>
            </a:r>
          </a:p>
          <a:p>
            <a:pPr algn="l">
              <a:lnSpc>
                <a:spcPts val="5127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12298" y="2029370"/>
            <a:ext cx="11895246" cy="5870698"/>
          </a:xfrm>
          <a:custGeom>
            <a:avLst/>
            <a:gdLst/>
            <a:ahLst/>
            <a:cxnLst/>
            <a:rect r="r" b="b" t="t" l="l"/>
            <a:pathLst>
              <a:path h="5870698" w="11895246">
                <a:moveTo>
                  <a:pt x="0" y="0"/>
                </a:moveTo>
                <a:lnTo>
                  <a:pt x="11895246" y="0"/>
                </a:lnTo>
                <a:lnTo>
                  <a:pt x="11895246" y="5870698"/>
                </a:lnTo>
                <a:lnTo>
                  <a:pt x="0" y="58706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94" r="0" b="-19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8659" y="757845"/>
            <a:ext cx="12914554" cy="1110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68"/>
              </a:lnSpc>
            </a:pPr>
            <a:r>
              <a:rPr lang="en-US" b="true" sz="8468">
                <a:solidFill>
                  <a:srgbClr val="D8D355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Total sales forecasting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939697" y="8216958"/>
            <a:ext cx="16085002" cy="188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3489" indent="-276744" lvl="1">
              <a:lnSpc>
                <a:spcPts val="5127"/>
              </a:lnSpc>
              <a:buFont typeface="Arial"/>
              <a:buChar char="•"/>
            </a:pPr>
            <a:r>
              <a:rPr lang="en-US" b="true" sz="2563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</a:t>
            </a:r>
            <a:r>
              <a:rPr lang="en-US" b="true" sz="2563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on-Seasonal Components (2, 0, 0)</a:t>
            </a:r>
          </a:p>
          <a:p>
            <a:pPr algn="l" marL="553489" indent="-276744" lvl="1">
              <a:lnSpc>
                <a:spcPts val="5127"/>
              </a:lnSpc>
              <a:buFont typeface="Arial"/>
              <a:buChar char="•"/>
            </a:pPr>
            <a:r>
              <a:rPr lang="en-US" b="true" sz="2563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Seasonal Components (1, 1, 1, 12)</a:t>
            </a:r>
          </a:p>
          <a:p>
            <a:pPr algn="l">
              <a:lnSpc>
                <a:spcPts val="5127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308289" y="2284939"/>
            <a:ext cx="8094590" cy="3068111"/>
          </a:xfrm>
          <a:custGeom>
            <a:avLst/>
            <a:gdLst/>
            <a:ahLst/>
            <a:cxnLst/>
            <a:rect r="r" b="b" t="t" l="l"/>
            <a:pathLst>
              <a:path h="3068111" w="8094590">
                <a:moveTo>
                  <a:pt x="0" y="0"/>
                </a:moveTo>
                <a:lnTo>
                  <a:pt x="8094589" y="0"/>
                </a:lnTo>
                <a:lnTo>
                  <a:pt x="8094589" y="3068111"/>
                </a:lnTo>
                <a:lnTo>
                  <a:pt x="0" y="30681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8659" y="5979696"/>
            <a:ext cx="8094590" cy="3068111"/>
          </a:xfrm>
          <a:custGeom>
            <a:avLst/>
            <a:gdLst/>
            <a:ahLst/>
            <a:cxnLst/>
            <a:rect r="r" b="b" t="t" l="l"/>
            <a:pathLst>
              <a:path h="3068111" w="8094590">
                <a:moveTo>
                  <a:pt x="0" y="0"/>
                </a:moveTo>
                <a:lnTo>
                  <a:pt x="8094589" y="0"/>
                </a:lnTo>
                <a:lnTo>
                  <a:pt x="8094589" y="3068111"/>
                </a:lnTo>
                <a:lnTo>
                  <a:pt x="0" y="30681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78659" y="2284939"/>
            <a:ext cx="8094590" cy="3068111"/>
          </a:xfrm>
          <a:custGeom>
            <a:avLst/>
            <a:gdLst/>
            <a:ahLst/>
            <a:cxnLst/>
            <a:rect r="r" b="b" t="t" l="l"/>
            <a:pathLst>
              <a:path h="3068111" w="8094590">
                <a:moveTo>
                  <a:pt x="0" y="0"/>
                </a:moveTo>
                <a:lnTo>
                  <a:pt x="8094589" y="0"/>
                </a:lnTo>
                <a:lnTo>
                  <a:pt x="8094589" y="3068111"/>
                </a:lnTo>
                <a:lnTo>
                  <a:pt x="0" y="30681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837642" y="5606159"/>
            <a:ext cx="5511142" cy="4473451"/>
          </a:xfrm>
          <a:custGeom>
            <a:avLst/>
            <a:gdLst/>
            <a:ahLst/>
            <a:cxnLst/>
            <a:rect r="r" b="b" t="t" l="l"/>
            <a:pathLst>
              <a:path h="4473451" w="5511142">
                <a:moveTo>
                  <a:pt x="0" y="0"/>
                </a:moveTo>
                <a:lnTo>
                  <a:pt x="5511142" y="0"/>
                </a:lnTo>
                <a:lnTo>
                  <a:pt x="5511142" y="4473451"/>
                </a:lnTo>
                <a:lnTo>
                  <a:pt x="0" y="44734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350" r="0" b="-135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78659" y="757845"/>
            <a:ext cx="12914554" cy="1110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68"/>
              </a:lnSpc>
            </a:pPr>
            <a:r>
              <a:rPr lang="en-US" b="true" sz="8468">
                <a:solidFill>
                  <a:srgbClr val="D8D355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Total sales forecasting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095172"/>
            <a:ext cx="10026961" cy="3968831"/>
          </a:xfrm>
          <a:custGeom>
            <a:avLst/>
            <a:gdLst/>
            <a:ahLst/>
            <a:cxnLst/>
            <a:rect r="r" b="b" t="t" l="l"/>
            <a:pathLst>
              <a:path h="3968831" w="10026961">
                <a:moveTo>
                  <a:pt x="0" y="0"/>
                </a:moveTo>
                <a:lnTo>
                  <a:pt x="10026961" y="0"/>
                </a:lnTo>
                <a:lnTo>
                  <a:pt x="10026961" y="3968831"/>
                </a:lnTo>
                <a:lnTo>
                  <a:pt x="0" y="39688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66" r="0" b="-314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6539843"/>
            <a:ext cx="10026961" cy="3408724"/>
          </a:xfrm>
          <a:custGeom>
            <a:avLst/>
            <a:gdLst/>
            <a:ahLst/>
            <a:cxnLst/>
            <a:rect r="r" b="b" t="t" l="l"/>
            <a:pathLst>
              <a:path h="3408724" w="10026961">
                <a:moveTo>
                  <a:pt x="0" y="0"/>
                </a:moveTo>
                <a:lnTo>
                  <a:pt x="10026961" y="0"/>
                </a:lnTo>
                <a:lnTo>
                  <a:pt x="10026961" y="3408724"/>
                </a:lnTo>
                <a:lnTo>
                  <a:pt x="0" y="34087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78659" y="757845"/>
            <a:ext cx="12914554" cy="1110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68"/>
              </a:lnSpc>
            </a:pPr>
            <a:r>
              <a:rPr lang="en-US" b="true" sz="8468">
                <a:solidFill>
                  <a:srgbClr val="D8D355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Total sales forecasting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327746" y="2216556"/>
            <a:ext cx="6960254" cy="6027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998" indent="-269999" lvl="1">
              <a:lnSpc>
                <a:spcPts val="5002"/>
              </a:lnSpc>
              <a:buFont typeface="Arial"/>
              <a:buChar char="•"/>
            </a:pPr>
            <a:r>
              <a:rPr lang="en-US" sz="250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RandomForest shows the lowest error metrics among the compared models, with SARIMAX having the second lowest.</a:t>
            </a:r>
          </a:p>
          <a:p>
            <a:pPr algn="l">
              <a:lnSpc>
                <a:spcPts val="5002"/>
              </a:lnSpc>
            </a:pPr>
          </a:p>
          <a:p>
            <a:pPr algn="l">
              <a:lnSpc>
                <a:spcPts val="5002"/>
              </a:lnSpc>
            </a:pPr>
          </a:p>
          <a:p>
            <a:pPr algn="l">
              <a:lnSpc>
                <a:spcPts val="5002"/>
              </a:lnSpc>
            </a:pPr>
          </a:p>
          <a:p>
            <a:pPr algn="l" marL="539998" indent="-269999" lvl="1">
              <a:lnSpc>
                <a:spcPts val="6252"/>
              </a:lnSpc>
              <a:buFont typeface="Arial"/>
              <a:buChar char="•"/>
            </a:pPr>
            <a:r>
              <a:rPr lang="en-US" sz="2501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The R2 value for SARIMAX is 0.792508, which is the highest among all the models presented.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67145" y="2121894"/>
            <a:ext cx="9709467" cy="6043211"/>
          </a:xfrm>
          <a:custGeom>
            <a:avLst/>
            <a:gdLst/>
            <a:ahLst/>
            <a:cxnLst/>
            <a:rect r="r" b="b" t="t" l="l"/>
            <a:pathLst>
              <a:path h="6043211" w="9709467">
                <a:moveTo>
                  <a:pt x="0" y="0"/>
                </a:moveTo>
                <a:lnTo>
                  <a:pt x="9709467" y="0"/>
                </a:lnTo>
                <a:lnTo>
                  <a:pt x="9709467" y="6043212"/>
                </a:lnTo>
                <a:lnTo>
                  <a:pt x="0" y="60432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8659" y="757845"/>
            <a:ext cx="17286440" cy="1110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68"/>
              </a:lnSpc>
            </a:pPr>
            <a:r>
              <a:rPr lang="en-US" b="true" sz="8468">
                <a:solidFill>
                  <a:srgbClr val="D8D355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Quantities of each products forecasting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80096" y="8723176"/>
            <a:ext cx="16085002" cy="1234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7"/>
              </a:lnSpc>
            </a:pPr>
            <a:r>
              <a:rPr lang="en-US" sz="2563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Based on the charts, the SARIMAX model with order (2,0,0)×(1,1,0,12) is adjusted to forecast quantities of each product.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621175"/>
            <a:ext cx="11211717" cy="1522325"/>
          </a:xfrm>
          <a:custGeom>
            <a:avLst/>
            <a:gdLst/>
            <a:ahLst/>
            <a:cxnLst/>
            <a:rect r="r" b="b" t="t" l="l"/>
            <a:pathLst>
              <a:path h="1522325" w="11211717">
                <a:moveTo>
                  <a:pt x="0" y="0"/>
                </a:moveTo>
                <a:lnTo>
                  <a:pt x="11211717" y="0"/>
                </a:lnTo>
                <a:lnTo>
                  <a:pt x="11211717" y="1522325"/>
                </a:lnTo>
                <a:lnTo>
                  <a:pt x="0" y="15223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8659" y="757845"/>
            <a:ext cx="17286440" cy="1110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68"/>
              </a:lnSpc>
            </a:pPr>
            <a:r>
              <a:rPr lang="en-US" b="true" sz="8468">
                <a:solidFill>
                  <a:srgbClr val="D8D355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Quantities of each products forecasting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01499" y="2351095"/>
            <a:ext cx="16085002" cy="58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7"/>
              </a:lnSpc>
            </a:pPr>
            <a:r>
              <a:rPr lang="en-US" sz="2563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Forecast Result: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1241" y="5629275"/>
            <a:ext cx="16085002" cy="3178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3489" indent="-276744" lvl="1">
              <a:lnSpc>
                <a:spcPts val="5127"/>
              </a:lnSpc>
              <a:buFont typeface="Arial"/>
              <a:buChar char="•"/>
            </a:pPr>
            <a:r>
              <a:rPr lang="en-US" sz="2563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The </a:t>
            </a:r>
            <a:r>
              <a:rPr lang="en-US" sz="2563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SARIMA forecasting model demonstrates excellent performance with an </a:t>
            </a:r>
            <a:r>
              <a:rPr lang="en-US" b="true" sz="2563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R-squared of 0.9923</a:t>
            </a:r>
            <a:r>
              <a:rPr lang="en-US" sz="2563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, explaining nearly all variance in product quantity data.</a:t>
            </a:r>
          </a:p>
          <a:p>
            <a:pPr algn="l" marL="553489" indent="-276744" lvl="1">
              <a:lnSpc>
                <a:spcPts val="5127"/>
              </a:lnSpc>
              <a:buFont typeface="Arial"/>
              <a:buChar char="•"/>
            </a:pPr>
            <a:r>
              <a:rPr lang="en-US" sz="2563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The </a:t>
            </a:r>
            <a:r>
              <a:rPr lang="en-US" b="true" sz="2563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low MAPE of 2.8619%</a:t>
            </a:r>
            <a:r>
              <a:rPr lang="en-US" sz="2563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indicates high prediction accuracy, making this model highly reliable for inventory planning and supply chain decisions.</a:t>
            </a:r>
          </a:p>
          <a:p>
            <a:pPr algn="l">
              <a:lnSpc>
                <a:spcPts val="5127"/>
              </a:lnSpc>
            </a:p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F6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7529736"/>
            <a:chOff x="0" y="0"/>
            <a:chExt cx="4816593" cy="19831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983140"/>
            </a:xfrm>
            <a:custGeom>
              <a:avLst/>
              <a:gdLst/>
              <a:ahLst/>
              <a:cxnLst/>
              <a:rect r="r" b="b" t="t" l="l"/>
              <a:pathLst>
                <a:path h="198314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983140"/>
                  </a:lnTo>
                  <a:lnTo>
                    <a:pt x="0" y="1983140"/>
                  </a:lnTo>
                  <a:close/>
                </a:path>
              </a:pathLst>
            </a:custGeom>
            <a:solidFill>
              <a:srgbClr val="FAD02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2030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1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1195388" y="1028700"/>
            <a:ext cx="0" cy="5170481"/>
          </a:xfrm>
          <a:prstGeom prst="line">
            <a:avLst/>
          </a:prstGeom>
          <a:ln cap="flat" w="333375">
            <a:solidFill>
              <a:srgbClr val="A6A6A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2106163" y="880442"/>
            <a:ext cx="8246468" cy="1653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47"/>
              </a:lnSpc>
            </a:pPr>
            <a:r>
              <a:rPr lang="en-US" sz="8985" b="true">
                <a:solidFill>
                  <a:srgbClr val="0A2E09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Actionable Plans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F6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8389" y="769517"/>
            <a:ext cx="15232618" cy="10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2"/>
              </a:lnSpc>
            </a:pPr>
            <a:r>
              <a:rPr lang="en-US" b="true" sz="7682">
                <a:solidFill>
                  <a:srgbClr val="D8D355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Focusing Retention Efforts On Top B2B Customers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46415" y="2474141"/>
            <a:ext cx="17195170" cy="5716449"/>
            <a:chOff x="0" y="0"/>
            <a:chExt cx="3820696" cy="12701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20696" cy="1270172"/>
            </a:xfrm>
            <a:custGeom>
              <a:avLst/>
              <a:gdLst/>
              <a:ahLst/>
              <a:cxnLst/>
              <a:rect r="r" b="b" t="t" l="l"/>
              <a:pathLst>
                <a:path h="1270172" w="3820696">
                  <a:moveTo>
                    <a:pt x="18910" y="0"/>
                  </a:moveTo>
                  <a:lnTo>
                    <a:pt x="3801786" y="0"/>
                  </a:lnTo>
                  <a:cubicBezTo>
                    <a:pt x="3806801" y="0"/>
                    <a:pt x="3811611" y="1992"/>
                    <a:pt x="3815158" y="5539"/>
                  </a:cubicBezTo>
                  <a:cubicBezTo>
                    <a:pt x="3818704" y="9085"/>
                    <a:pt x="3820696" y="13895"/>
                    <a:pt x="3820696" y="18910"/>
                  </a:cubicBezTo>
                  <a:lnTo>
                    <a:pt x="3820696" y="1251262"/>
                  </a:lnTo>
                  <a:cubicBezTo>
                    <a:pt x="3820696" y="1256277"/>
                    <a:pt x="3818704" y="1261087"/>
                    <a:pt x="3815158" y="1264633"/>
                  </a:cubicBezTo>
                  <a:cubicBezTo>
                    <a:pt x="3811611" y="1268179"/>
                    <a:pt x="3806801" y="1270172"/>
                    <a:pt x="3801786" y="1270172"/>
                  </a:cubicBezTo>
                  <a:lnTo>
                    <a:pt x="18910" y="1270172"/>
                  </a:lnTo>
                  <a:cubicBezTo>
                    <a:pt x="8466" y="1270172"/>
                    <a:pt x="0" y="1261705"/>
                    <a:pt x="0" y="1251262"/>
                  </a:cubicBezTo>
                  <a:lnTo>
                    <a:pt x="0" y="18910"/>
                  </a:lnTo>
                  <a:cubicBezTo>
                    <a:pt x="0" y="13895"/>
                    <a:pt x="1992" y="9085"/>
                    <a:pt x="5539" y="5539"/>
                  </a:cubicBezTo>
                  <a:cubicBezTo>
                    <a:pt x="9085" y="1992"/>
                    <a:pt x="13895" y="0"/>
                    <a:pt x="1891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47675"/>
              <a:ext cx="3820696" cy="1717847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just" marL="777237" indent="-388618" lvl="1">
                <a:lnSpc>
                  <a:spcPts val="8999"/>
                </a:lnSpc>
                <a:buFont typeface="Arial"/>
                <a:buChar char="•"/>
              </a:pPr>
              <a:r>
                <a:rPr lang="en-US" sz="3599" spc="176">
                  <a:solidFill>
                    <a:srgbClr val="2C2C2C"/>
                  </a:solidFill>
                  <a:latin typeface="Saira ExtraCondensed"/>
                  <a:ea typeface="Saira ExtraCondensed"/>
                  <a:cs typeface="Saira ExtraCondensed"/>
                  <a:sym typeface="Saira ExtraCondensed"/>
                </a:rPr>
                <a:t>Offer </a:t>
              </a:r>
              <a:r>
                <a:rPr lang="en-US" sz="3599" spc="176">
                  <a:solidFill>
                    <a:srgbClr val="2C2C2C"/>
                  </a:solidFill>
                  <a:latin typeface="Saira ExtraCondensed"/>
                  <a:ea typeface="Saira ExtraCondensed"/>
                  <a:cs typeface="Saira ExtraCondensed"/>
                  <a:sym typeface="Saira ExtraCondensed"/>
                </a:rPr>
                <a:t>personalized service plans to the top 20% of B2B clients. </a:t>
              </a:r>
            </a:p>
            <a:p>
              <a:pPr algn="just" marL="777237" indent="-388618" lvl="1">
                <a:lnSpc>
                  <a:spcPts val="8999"/>
                </a:lnSpc>
                <a:buFont typeface="Arial"/>
                <a:buChar char="•"/>
              </a:pPr>
              <a:r>
                <a:rPr lang="en-US" sz="3599" spc="176">
                  <a:solidFill>
                    <a:srgbClr val="2C2C2C"/>
                  </a:solidFill>
                  <a:latin typeface="Saira ExtraCondensed"/>
                  <a:ea typeface="Saira ExtraCondensed"/>
                  <a:cs typeface="Saira ExtraCondensed"/>
                  <a:sym typeface="Saira ExtraCondensed"/>
                </a:rPr>
                <a:t>Implement a tiered loyalty program with volume-based benefits and exclusive access. 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F6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8389" y="769517"/>
            <a:ext cx="15232618" cy="10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2"/>
              </a:lnSpc>
            </a:pPr>
            <a:r>
              <a:rPr lang="en-US" b="true" sz="7682">
                <a:solidFill>
                  <a:srgbClr val="D8D355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Targeted Maketing Strategies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46415" y="2275530"/>
            <a:ext cx="17195170" cy="6030109"/>
            <a:chOff x="0" y="0"/>
            <a:chExt cx="3820696" cy="13398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20696" cy="1339866"/>
            </a:xfrm>
            <a:custGeom>
              <a:avLst/>
              <a:gdLst/>
              <a:ahLst/>
              <a:cxnLst/>
              <a:rect r="r" b="b" t="t" l="l"/>
              <a:pathLst>
                <a:path h="1339866" w="3820696">
                  <a:moveTo>
                    <a:pt x="18910" y="0"/>
                  </a:moveTo>
                  <a:lnTo>
                    <a:pt x="3801786" y="0"/>
                  </a:lnTo>
                  <a:cubicBezTo>
                    <a:pt x="3806801" y="0"/>
                    <a:pt x="3811611" y="1992"/>
                    <a:pt x="3815158" y="5539"/>
                  </a:cubicBezTo>
                  <a:cubicBezTo>
                    <a:pt x="3818704" y="9085"/>
                    <a:pt x="3820696" y="13895"/>
                    <a:pt x="3820696" y="18910"/>
                  </a:cubicBezTo>
                  <a:lnTo>
                    <a:pt x="3820696" y="1320956"/>
                  </a:lnTo>
                  <a:cubicBezTo>
                    <a:pt x="3820696" y="1325971"/>
                    <a:pt x="3818704" y="1330781"/>
                    <a:pt x="3815158" y="1334327"/>
                  </a:cubicBezTo>
                  <a:cubicBezTo>
                    <a:pt x="3811611" y="1337873"/>
                    <a:pt x="3806801" y="1339866"/>
                    <a:pt x="3801786" y="1339866"/>
                  </a:cubicBezTo>
                  <a:lnTo>
                    <a:pt x="18910" y="1339866"/>
                  </a:lnTo>
                  <a:cubicBezTo>
                    <a:pt x="13895" y="1339866"/>
                    <a:pt x="9085" y="1337873"/>
                    <a:pt x="5539" y="1334327"/>
                  </a:cubicBezTo>
                  <a:cubicBezTo>
                    <a:pt x="1992" y="1330781"/>
                    <a:pt x="0" y="1325971"/>
                    <a:pt x="0" y="1320956"/>
                  </a:cubicBezTo>
                  <a:lnTo>
                    <a:pt x="0" y="18910"/>
                  </a:lnTo>
                  <a:cubicBezTo>
                    <a:pt x="0" y="13895"/>
                    <a:pt x="1992" y="9085"/>
                    <a:pt x="5539" y="5539"/>
                  </a:cubicBezTo>
                  <a:cubicBezTo>
                    <a:pt x="9085" y="1992"/>
                    <a:pt x="13895" y="0"/>
                    <a:pt x="1891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19100"/>
              <a:ext cx="3820696" cy="1758966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 marL="734058" indent="-367029" lvl="1">
                <a:lnSpc>
                  <a:spcPts val="8499"/>
                </a:lnSpc>
                <a:buFont typeface="Arial"/>
                <a:buChar char="•"/>
              </a:pPr>
              <a:r>
                <a:rPr lang="en-US" sz="3399" spc="166">
                  <a:solidFill>
                    <a:srgbClr val="2C2C2C"/>
                  </a:solidFill>
                  <a:latin typeface="Saira ExtraCondensed"/>
                  <a:ea typeface="Saira ExtraCondensed"/>
                  <a:cs typeface="Saira ExtraCondensed"/>
                  <a:sym typeface="Saira ExtraCondensed"/>
                </a:rPr>
                <a:t>Launch targeted social media and digital campaigns highlighting luxury beverage experiences. </a:t>
              </a:r>
            </a:p>
            <a:p>
              <a:pPr algn="l" marL="734058" indent="-367029" lvl="1">
                <a:lnSpc>
                  <a:spcPts val="8499"/>
                </a:lnSpc>
                <a:buFont typeface="Arial"/>
                <a:buChar char="•"/>
              </a:pPr>
              <a:r>
                <a:rPr lang="en-US" sz="3399" spc="166">
                  <a:solidFill>
                    <a:srgbClr val="2C2C2C"/>
                  </a:solidFill>
                  <a:latin typeface="Saira ExtraCondensed"/>
                  <a:ea typeface="Saira ExtraCondensed"/>
                  <a:cs typeface="Saira ExtraCondensed"/>
                  <a:sym typeface="Saira ExtraCondensed"/>
                </a:rPr>
                <a:t>Redesign store layouts to showcase luxury brands like Veuve Clicquot and Johnnie Walker.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F6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8389" y="769517"/>
            <a:ext cx="15232618" cy="10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2"/>
              </a:lnSpc>
            </a:pPr>
            <a:r>
              <a:rPr lang="en-US" b="true" sz="7682">
                <a:solidFill>
                  <a:srgbClr val="D8D355"/>
                </a:solidFill>
                <a:latin typeface="Saira ExtraCondensed Bold"/>
                <a:ea typeface="Saira ExtraCondensed Bold"/>
                <a:cs typeface="Saira ExtraCondensed Bold"/>
                <a:sym typeface="Saira ExtraCondensed Bold"/>
              </a:rPr>
              <a:t>Seasonal Sales Patterns and Forecasting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46415" y="2344560"/>
            <a:ext cx="17195170" cy="7281124"/>
            <a:chOff x="0" y="0"/>
            <a:chExt cx="3820696" cy="161783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20696" cy="1617836"/>
            </a:xfrm>
            <a:custGeom>
              <a:avLst/>
              <a:gdLst/>
              <a:ahLst/>
              <a:cxnLst/>
              <a:rect r="r" b="b" t="t" l="l"/>
              <a:pathLst>
                <a:path h="1617836" w="3820696">
                  <a:moveTo>
                    <a:pt x="18910" y="0"/>
                  </a:moveTo>
                  <a:lnTo>
                    <a:pt x="3801786" y="0"/>
                  </a:lnTo>
                  <a:cubicBezTo>
                    <a:pt x="3806801" y="0"/>
                    <a:pt x="3811611" y="1992"/>
                    <a:pt x="3815158" y="5539"/>
                  </a:cubicBezTo>
                  <a:cubicBezTo>
                    <a:pt x="3818704" y="9085"/>
                    <a:pt x="3820696" y="13895"/>
                    <a:pt x="3820696" y="18910"/>
                  </a:cubicBezTo>
                  <a:lnTo>
                    <a:pt x="3820696" y="1598926"/>
                  </a:lnTo>
                  <a:cubicBezTo>
                    <a:pt x="3820696" y="1603941"/>
                    <a:pt x="3818704" y="1608751"/>
                    <a:pt x="3815158" y="1612297"/>
                  </a:cubicBezTo>
                  <a:cubicBezTo>
                    <a:pt x="3811611" y="1615844"/>
                    <a:pt x="3806801" y="1617836"/>
                    <a:pt x="3801786" y="1617836"/>
                  </a:cubicBezTo>
                  <a:lnTo>
                    <a:pt x="18910" y="1617836"/>
                  </a:lnTo>
                  <a:cubicBezTo>
                    <a:pt x="13895" y="1617836"/>
                    <a:pt x="9085" y="1615844"/>
                    <a:pt x="5539" y="1612297"/>
                  </a:cubicBezTo>
                  <a:cubicBezTo>
                    <a:pt x="1992" y="1608751"/>
                    <a:pt x="0" y="1603941"/>
                    <a:pt x="0" y="1598926"/>
                  </a:cubicBezTo>
                  <a:lnTo>
                    <a:pt x="0" y="18910"/>
                  </a:lnTo>
                  <a:cubicBezTo>
                    <a:pt x="0" y="13895"/>
                    <a:pt x="1992" y="9085"/>
                    <a:pt x="5539" y="5539"/>
                  </a:cubicBezTo>
                  <a:cubicBezTo>
                    <a:pt x="9085" y="1992"/>
                    <a:pt x="13895" y="0"/>
                    <a:pt x="1891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47675"/>
              <a:ext cx="3820696" cy="2065511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just" marL="777237" indent="-388618" lvl="1">
                <a:lnSpc>
                  <a:spcPts val="8999"/>
                </a:lnSpc>
                <a:buFont typeface="Arial"/>
                <a:buChar char="•"/>
              </a:pPr>
              <a:r>
                <a:rPr lang="en-US" sz="3599" spc="176">
                  <a:solidFill>
                    <a:srgbClr val="2C2C2C"/>
                  </a:solidFill>
                  <a:latin typeface="Saira ExtraCondensed"/>
                  <a:ea typeface="Saira ExtraCondensed"/>
                  <a:cs typeface="Saira ExtraCondensed"/>
                  <a:sym typeface="Saira ExtraCondensed"/>
                </a:rPr>
                <a:t>Create a promotional campaign with time-limited offers to boost sales during the typical March decline period.</a:t>
              </a:r>
            </a:p>
            <a:p>
              <a:pPr algn="just" marL="777237" indent="-388618" lvl="1">
                <a:lnSpc>
                  <a:spcPts val="8999"/>
                </a:lnSpc>
                <a:buFont typeface="Arial"/>
                <a:buChar char="•"/>
              </a:pPr>
              <a:r>
                <a:rPr lang="en-US" sz="3599" spc="176">
                  <a:solidFill>
                    <a:srgbClr val="2C2C2C"/>
                  </a:solidFill>
                  <a:latin typeface="Saira ExtraCondensed"/>
                  <a:ea typeface="Saira ExtraCondensed"/>
                  <a:cs typeface="Saira ExtraCondensed"/>
                  <a:sym typeface="Saira ExtraCondensed"/>
                </a:rPr>
                <a:t>Adj</a:t>
              </a:r>
              <a:r>
                <a:rPr lang="en-US" sz="3599" spc="176">
                  <a:solidFill>
                    <a:srgbClr val="2C2C2C"/>
                  </a:solidFill>
                  <a:latin typeface="Saira ExtraCondensed"/>
                  <a:ea typeface="Saira ExtraCondensed"/>
                  <a:cs typeface="Saira ExtraCondensed"/>
                  <a:sym typeface="Saira ExtraCondensed"/>
                </a:rPr>
                <a:t>ust inventory based on forecasting results to optimize inventory costs.</a:t>
              </a:r>
            </a:p>
            <a:p>
              <a:pPr algn="just" marL="777237" indent="-388618" lvl="1">
                <a:lnSpc>
                  <a:spcPts val="8999"/>
                </a:lnSpc>
                <a:buFont typeface="Arial"/>
                <a:buChar char="•"/>
              </a:pPr>
              <a:r>
                <a:rPr lang="en-US" sz="3599" spc="176">
                  <a:solidFill>
                    <a:srgbClr val="2C2C2C"/>
                  </a:solidFill>
                  <a:latin typeface="Saira ExtraCondensed"/>
                  <a:ea typeface="Saira ExtraCondensed"/>
                  <a:cs typeface="Saira ExtraCondensed"/>
                  <a:sym typeface="Saira ExtraCondensed"/>
                </a:rPr>
                <a:t>Implement dynamic pricing strategies during peak and low seasons.</a:t>
              </a:r>
            </a:p>
            <a:p>
              <a:pPr algn="just" marL="777237" indent="-388618" lvl="1">
                <a:lnSpc>
                  <a:spcPts val="8999"/>
                </a:lnSpc>
                <a:buFont typeface="Arial"/>
                <a:buChar char="•"/>
              </a:pPr>
              <a:r>
                <a:rPr lang="en-US" sz="3599" spc="176">
                  <a:solidFill>
                    <a:srgbClr val="2C2C2C"/>
                  </a:solidFill>
                  <a:latin typeface="Saira ExtraCondensed"/>
                  <a:ea typeface="Saira ExtraCondensed"/>
                  <a:cs typeface="Saira ExtraCondensed"/>
                  <a:sym typeface="Saira ExtraCondensed"/>
                </a:rPr>
                <a:t>Shif</a:t>
              </a:r>
              <a:r>
                <a:rPr lang="en-US" sz="3599" spc="176">
                  <a:solidFill>
                    <a:srgbClr val="2C2C2C"/>
                  </a:solidFill>
                  <a:latin typeface="Saira ExtraCondensed"/>
                  <a:ea typeface="Saira ExtraCondensed"/>
                  <a:cs typeface="Saira ExtraCondensed"/>
                  <a:sym typeface="Saira ExtraCondensed"/>
                </a:rPr>
                <a:t>t marketing budget allocation seasonally based on historical performance data.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7529736"/>
            <a:chOff x="0" y="0"/>
            <a:chExt cx="4816593" cy="19831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1983140"/>
            </a:xfrm>
            <a:custGeom>
              <a:avLst/>
              <a:gdLst/>
              <a:ahLst/>
              <a:cxnLst/>
              <a:rect r="r" b="b" t="t" l="l"/>
              <a:pathLst>
                <a:path h="198314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983140"/>
                  </a:lnTo>
                  <a:lnTo>
                    <a:pt x="0" y="1983140"/>
                  </a:lnTo>
                  <a:close/>
                </a:path>
              </a:pathLst>
            </a:custGeom>
            <a:solidFill>
              <a:srgbClr val="FAD02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816593" cy="2030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8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738678" y="1181077"/>
            <a:ext cx="10810644" cy="5662214"/>
            <a:chOff x="0" y="0"/>
            <a:chExt cx="14414192" cy="75496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5656275" y="0"/>
              <a:ext cx="3101642" cy="3152876"/>
            </a:xfrm>
            <a:custGeom>
              <a:avLst/>
              <a:gdLst/>
              <a:ahLst/>
              <a:cxnLst/>
              <a:rect r="r" b="b" t="t" l="l"/>
              <a:pathLst>
                <a:path h="3152876" w="3101642">
                  <a:moveTo>
                    <a:pt x="0" y="0"/>
                  </a:moveTo>
                  <a:lnTo>
                    <a:pt x="3101642" y="0"/>
                  </a:lnTo>
                  <a:lnTo>
                    <a:pt x="3101642" y="3152876"/>
                  </a:lnTo>
                  <a:lnTo>
                    <a:pt x="0" y="3152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0" y="3767135"/>
              <a:ext cx="14414192" cy="37824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999"/>
                </a:lnSpc>
              </a:pPr>
              <a:r>
                <a:rPr lang="en-US" b="true" sz="9999">
                  <a:solidFill>
                    <a:srgbClr val="00071A"/>
                  </a:solidFill>
                  <a:latin typeface="Amatic SC Bold"/>
                  <a:ea typeface="Amatic SC Bold"/>
                  <a:cs typeface="Amatic SC Bold"/>
                  <a:sym typeface="Amatic SC Bold"/>
                </a:rPr>
                <a:t>THANKS YOU FOR YOUR ATTENTIONS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DAGl1UNicwo</dc:identifier>
  <dcterms:modified xsi:type="dcterms:W3CDTF">2011-08-01T06:04:30Z</dcterms:modified>
  <cp:revision>1</cp:revision>
  <dc:title>SCA Project</dc:title>
</cp:coreProperties>
</file>